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9F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58" y="5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F7A84-5326-4125-B6DF-E255CA77FC4F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1798E-80D5-4122-83EE-78F94422ED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25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1798E-80D5-4122-83EE-78F94422ED0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70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0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3816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07592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54480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01368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48256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95144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42032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35808" y="4572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0704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07592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54480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01368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48256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95144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42032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88920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35808" y="109728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60704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307592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554480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801368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048256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95144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542032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88920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35808" y="173736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60704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307592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554480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01368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048256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295144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542032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88920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035808" y="237743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040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3816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60704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07592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554480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801368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048256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295144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542032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788920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35808" y="301752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20040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66928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3816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60704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307592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554480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801368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048256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295144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542032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788920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035808" y="3657600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20040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66928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13816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60704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307592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554480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801368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048256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295144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542032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788920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035808" y="429767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20040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66928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13816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60704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307592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554480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801368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048256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295144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542032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788920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035808" y="4937759"/>
            <a:ext cx="64008" cy="64008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48640" y="2560320"/>
            <a:ext cx="2377440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14400" y="2057400"/>
            <a:ext cx="164592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68680" y="2395728"/>
            <a:ext cx="173736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560320" y="251460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9006840" y="2057400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05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216613" y="2025127"/>
            <a:ext cx="1097280" cy="822960"/>
          </a:xfrm>
          <a:prstGeom prst="roundRect">
            <a:avLst>
              <a:gd name="adj" fmla="val 6000"/>
            </a:avLst>
          </a:prstGeom>
          <a:solidFill>
            <a:srgbClr val="2D9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10195560" y="2423160"/>
            <a:ext cx="914400" cy="73152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10405333" y="2390887"/>
            <a:ext cx="914400" cy="731520"/>
          </a:xfrm>
          <a:prstGeom prst="roundRect">
            <a:avLst>
              <a:gd name="adj" fmla="val 6000"/>
            </a:avLst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9464040" y="306323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9673813" y="3030967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927080" y="2880360"/>
            <a:ext cx="822960" cy="640080"/>
          </a:xfrm>
          <a:prstGeom prst="roundRect">
            <a:avLst>
              <a:gd name="adj" fmla="val 6000"/>
            </a:avLst>
          </a:prstGeom>
          <a:solidFill>
            <a:srgbClr val="05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136853" y="2848087"/>
            <a:ext cx="822960" cy="6400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9921240" y="3703320"/>
            <a:ext cx="1005840" cy="685800"/>
          </a:xfrm>
          <a:prstGeom prst="roundRect">
            <a:avLst>
              <a:gd name="adj" fmla="val 6000"/>
            </a:avLst>
          </a:prstGeom>
          <a:solidFill>
            <a:srgbClr val="05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10131013" y="3671047"/>
            <a:ext cx="1005840" cy="685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1109960" y="3794759"/>
            <a:ext cx="731520" cy="73152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1319733" y="3762486"/>
            <a:ext cx="731520" cy="731520"/>
          </a:xfrm>
          <a:prstGeom prst="roundRect">
            <a:avLst>
              <a:gd name="adj" fmla="val 6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840480" y="476029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mbria"/>
              </a:rPr>
              <a:t>OPTIMIZACIÓN TRIDIMENSIONAL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40480" y="1161828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DE CARGA AEROPORTUARIA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40480" y="260604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38BDF8"/>
                </a:solidFill>
                <a:latin typeface="Calibri"/>
              </a:rPr>
              <a:t>3D Bin Packing con </a:t>
            </a:r>
            <a:r>
              <a:rPr sz="1600" b="0" i="1" dirty="0" err="1">
                <a:solidFill>
                  <a:srgbClr val="38BDF8"/>
                </a:solidFill>
                <a:latin typeface="Calibri"/>
              </a:rPr>
              <a:t>restricciones</a:t>
            </a:r>
            <a:r>
              <a:rPr sz="1600" b="0" i="1" dirty="0">
                <a:solidFill>
                  <a:srgbClr val="38BDF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Calibri"/>
              </a:rPr>
              <a:t>físicas</a:t>
            </a:r>
            <a:r>
              <a:rPr sz="1600" b="0" i="1" dirty="0">
                <a:solidFill>
                  <a:srgbClr val="38BDF8"/>
                </a:solidFill>
                <a:latin typeface="Calibri"/>
              </a:rPr>
              <a:t> y balance </a:t>
            </a:r>
            <a:r>
              <a:rPr sz="1600" b="0" i="1" dirty="0" err="1">
                <a:solidFill>
                  <a:srgbClr val="38BDF8"/>
                </a:solidFill>
                <a:latin typeface="Calibri"/>
              </a:rPr>
              <a:t>estático</a:t>
            </a:r>
            <a:endParaRPr sz="1600" b="0" i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840480" y="3200400"/>
            <a:ext cx="540000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840480" y="3337560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Leonardo Duran Cuenca  |  Diego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Villazón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Arce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54240" y="4489955"/>
            <a:ext cx="35422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139F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Católica </a:t>
            </a:r>
            <a:r>
              <a:rPr sz="2000" b="0" i="0" dirty="0" err="1">
                <a:solidFill>
                  <a:srgbClr val="139F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Boliviana</a:t>
            </a:r>
            <a:r>
              <a:rPr sz="2000" b="0" i="0" dirty="0">
                <a:solidFill>
                  <a:srgbClr val="139F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BO" sz="2000" b="0" i="0" dirty="0">
              <a:solidFill>
                <a:srgbClr val="139FC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b="0" i="0" dirty="0">
                <a:solidFill>
                  <a:srgbClr val="139F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'San Pablo'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40480" y="6385560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4A3B8"/>
                </a:solidFill>
                <a:latin typeface="Calibri"/>
              </a:rPr>
              <a:t>Materia: </a:t>
            </a:r>
            <a:r>
              <a:rPr sz="1600" b="0" i="1" dirty="0" err="1">
                <a:solidFill>
                  <a:srgbClr val="94A3B8"/>
                </a:solidFill>
                <a:latin typeface="Calibri"/>
              </a:rPr>
              <a:t>Optimización</a:t>
            </a:r>
            <a:r>
              <a:rPr sz="1600" b="0" i="1" dirty="0">
                <a:solidFill>
                  <a:srgbClr val="94A3B8"/>
                </a:solidFill>
                <a:latin typeface="Calibri"/>
              </a:rPr>
              <a:t>  |  11 de </a:t>
            </a:r>
            <a:r>
              <a:rPr sz="1600" b="0" i="1" dirty="0" err="1">
                <a:solidFill>
                  <a:srgbClr val="94A3B8"/>
                </a:solidFill>
                <a:latin typeface="Calibri"/>
              </a:rPr>
              <a:t>junio</a:t>
            </a:r>
            <a:r>
              <a:rPr sz="1600" b="0" i="1" dirty="0">
                <a:solidFill>
                  <a:srgbClr val="94A3B8"/>
                </a:solidFill>
                <a:latin typeface="Calibri"/>
              </a:rPr>
              <a:t> de 2026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097086D7-875D-179A-5AA0-9FF882500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3" y="5959741"/>
            <a:ext cx="8131705" cy="41858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11DCCF23-C9D3-EBD8-5712-39815A48B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765" b="30196"/>
          <a:stretch>
            <a:fillRect/>
          </a:stretch>
        </p:blipFill>
        <p:spPr>
          <a:xfrm>
            <a:off x="3505200" y="4138024"/>
            <a:ext cx="3965269" cy="1508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2004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 err="1">
                <a:solidFill>
                  <a:srgbClr val="38BDF8"/>
                </a:solidFill>
                <a:latin typeface="Calibri"/>
              </a:rPr>
              <a:t>Logística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aeroportuaria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moderna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38BDF8"/>
                </a:solidFill>
                <a:latin typeface="Calibri"/>
              </a:rPr>
              <a:t>¿</a:t>
            </a:r>
            <a:r>
              <a:rPr sz="2400" b="1" i="0" dirty="0" err="1">
                <a:solidFill>
                  <a:srgbClr val="38BDF8"/>
                </a:solidFill>
                <a:latin typeface="Calibri"/>
              </a:rPr>
              <a:t>Qué</a:t>
            </a:r>
            <a:r>
              <a:rPr sz="2400" b="1" i="0" dirty="0">
                <a:solidFill>
                  <a:srgbClr val="38BDF8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38BDF8"/>
                </a:solidFill>
                <a:latin typeface="Calibri"/>
              </a:rPr>
              <a:t>buscamos</a:t>
            </a:r>
            <a:r>
              <a:rPr sz="2400" b="1" i="0" dirty="0">
                <a:solidFill>
                  <a:srgbClr val="38BDF8"/>
                </a:solidFill>
                <a:latin typeface="Calibri"/>
              </a:rPr>
              <a:t> resolver?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6779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E2E8F0"/>
                </a:solidFill>
                <a:latin typeface="Calibri"/>
              </a:rPr>
              <a:t>Cargar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mercancía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aeronave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no es un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problema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trivial. Cada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vuelo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exige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tomar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decisiones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simultáneas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alibri"/>
              </a:rPr>
              <a:t>sobre</a:t>
            </a:r>
            <a:r>
              <a:rPr sz="1600" b="0" i="0" dirty="0">
                <a:solidFill>
                  <a:srgbClr val="E2E8F0"/>
                </a:solidFill>
                <a:latin typeface="Calibri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722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  →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Qué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cajas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viajan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cuáles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quedan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tierra (Knapsack)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11274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  → En qué compartimiento va cada caja (Bin Packing)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532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  → Las coordenadas exactas (x, y, z) de cada pieza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7937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  →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peso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distribuido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mantenga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Centro de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Gravedad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rango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seguro</a:t>
            </a:r>
            <a:endParaRPr sz="16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72134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94A3B8"/>
                </a:solidFill>
                <a:latin typeface="Calibri"/>
              </a:rPr>
              <a:t>El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objetivo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es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maximizar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el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valor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económico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del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flete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,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garantizando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viabilidad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geométrica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y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seguridad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vuelo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4864" cy="3600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20840" y="123444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0" y="118872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222104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BBF24"/>
                </a:solidFill>
                <a:latin typeface="Calibri"/>
              </a:rPr>
              <a:t>NP-hard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602378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E2E8F0"/>
                </a:solidFill>
                <a:latin typeface="Calibri"/>
              </a:rPr>
              <a:t>Espacio de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soluciones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crece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factorialmente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con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el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número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de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cajas</a:t>
            </a:r>
            <a:endParaRPr b="0" i="0" dirty="0">
              <a:solidFill>
                <a:srgbClr val="E2E8F0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20840" y="246888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0" y="242316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456544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Multi-restricción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836818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E2E8F0"/>
                </a:solidFill>
                <a:latin typeface="Calibri"/>
              </a:rPr>
              <a:t>Dimensiones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, peso, no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traslape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y balance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acoplados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simultáneamente</a:t>
            </a:r>
            <a:endParaRPr b="0" i="0" dirty="0">
              <a:solidFill>
                <a:srgbClr val="E2E8F0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20840" y="370332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75120" y="365760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690983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34D399"/>
                </a:solidFill>
                <a:latin typeface="Calibri"/>
              </a:rPr>
              <a:t>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071258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La aerolínea necesita respuestas en segundos, no horas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2560320" cy="164592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029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Cambria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692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 err="1">
                <a:solidFill>
                  <a:srgbClr val="CBD5E1"/>
                </a:solidFill>
                <a:latin typeface="Calibri"/>
              </a:rPr>
              <a:t>aeronaves</a:t>
            </a:r>
            <a:r>
              <a:rPr sz="24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sz="2400" b="0" i="0" dirty="0" err="1">
                <a:solidFill>
                  <a:srgbClr val="CBD5E1"/>
                </a:solidFill>
                <a:latin typeface="Calibri"/>
              </a:rPr>
              <a:t>prueba</a:t>
            </a:r>
            <a:endParaRPr sz="24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37560" y="4892040"/>
            <a:ext cx="2560320" cy="164592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5029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Cambria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6692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  <a:latin typeface="Calibri"/>
              </a:rPr>
              <a:t>cajas en inventario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92040"/>
            <a:ext cx="2560320" cy="164592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5029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Cambria"/>
              </a:rPr>
              <a:t>40+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669280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  <a:latin typeface="Calibri"/>
              </a:rPr>
              <a:t>variables binarias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4892040"/>
            <a:ext cx="2560320" cy="164592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5029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Cambria"/>
              </a:rPr>
              <a:t>120s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6692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  <a:latin typeface="Calibri"/>
              </a:rPr>
              <a:t>límite de cómputo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Marco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i="1">
                <a:solidFill>
                  <a:srgbClr val="38BDF8"/>
                </a:solidFill>
                <a:latin typeface="Calibri"/>
              </a:defRPr>
            </a:lvl1pPr>
          </a:lstStyle>
          <a:p>
            <a:r>
              <a:rPr dirty="0" err="1"/>
              <a:t>Fundamentos</a:t>
            </a:r>
            <a:r>
              <a:rPr dirty="0"/>
              <a:t> </a:t>
            </a:r>
            <a:r>
              <a:rPr dirty="0" err="1"/>
              <a:t>computacionales</a:t>
            </a:r>
            <a:r>
              <a:rPr dirty="0"/>
              <a:t> del </a:t>
            </a:r>
            <a:r>
              <a:rPr dirty="0" err="1"/>
              <a:t>modelo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"/>
              </a:rPr>
              <a:t>3D Bin Packing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846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Dado un conjunto de cajas con dimensiones (dx, dy, dz) y un conjunto de contenedores (compartimientos), asignar cada caja a un contenedor tal que ningún par se traslape y todos quepan dentro de los límites.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Complejidad: NP-hard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El espacio de soluciones crece O(n!) con n cajas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2344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6263640" y="118872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32588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Calibri"/>
              </a:rPr>
              <a:t>Knapsack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10512"/>
            <a:ext cx="4846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Seleccionar un subconjunto de artículos con valores v_i y pesos w_i que maximice la suma de valores, sin exceder la capacidad total de la mochila.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Complejidad: NP-hard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Subconjunto óptimo en O(2^n) sin DP o MILP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9442" y="21031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38BDF8"/>
                </a:solidFill>
                <a:latin typeface="Calibri"/>
              </a:rPr>
              <a:t>+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D80D24-AF4B-421C-0789-9280DC3D4D37}"/>
              </a:ext>
            </a:extLst>
          </p:cNvPr>
          <p:cNvGrpSpPr/>
          <p:nvPr/>
        </p:nvGrpSpPr>
        <p:grpSpPr>
          <a:xfrm>
            <a:off x="365760" y="3749038"/>
            <a:ext cx="11338560" cy="2788921"/>
            <a:chOff x="365760" y="3749039"/>
            <a:chExt cx="11338560" cy="1965960"/>
          </a:xfrm>
        </p:grpSpPr>
        <p:sp>
          <p:nvSpPr>
            <p:cNvPr id="18" name="Rounded Rectangle 17"/>
            <p:cNvSpPr/>
            <p:nvPr/>
          </p:nvSpPr>
          <p:spPr>
            <a:xfrm>
              <a:off x="411480" y="3794759"/>
              <a:ext cx="11292840" cy="1920240"/>
            </a:xfrm>
            <a:prstGeom prst="roundRect">
              <a:avLst>
                <a:gd name="adj" fmla="val 6000"/>
              </a:avLst>
            </a:prstGeom>
            <a:solidFill>
              <a:srgbClr val="0305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65760" y="3749039"/>
              <a:ext cx="11292840" cy="1920240"/>
            </a:xfrm>
            <a:prstGeom prst="roundRect">
              <a:avLst>
                <a:gd name="adj" fmla="val 6000"/>
              </a:avLst>
            </a:prstGeom>
            <a:solidFill>
              <a:srgbClr val="061A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2845" y="3827033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  <a:latin typeface="Calibri"/>
              </a:rPr>
              <a:t>Programación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Lineal Entera Mixta (MILP) — La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solución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exacta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44567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8BDF8"/>
                </a:solidFill>
                <a:latin typeface="Calibri"/>
              </a:rPr>
              <a:t>Optimalidad</a:t>
            </a:r>
            <a:r>
              <a:rPr sz="2000" b="1" i="0" dirty="0">
                <a:solidFill>
                  <a:srgbClr val="38BDF8"/>
                </a:solidFill>
                <a:latin typeface="Calibri"/>
              </a:rPr>
              <a:t>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5456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BD5E1"/>
                </a:solidFill>
                <a:latin typeface="Calibri"/>
              </a:rPr>
              <a:t>A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diferencia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heurísticas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(First-Fit,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algoritmos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genéticos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), MILP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garantiza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la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solución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óptima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global o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una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solución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 con GAP </a:t>
            </a:r>
            <a:r>
              <a:rPr b="0" i="0" dirty="0" err="1">
                <a:solidFill>
                  <a:srgbClr val="CBD5E1"/>
                </a:solidFill>
                <a:latin typeface="Calibri"/>
              </a:rPr>
              <a:t>controlado</a:t>
            </a:r>
            <a:r>
              <a:rPr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4544567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"/>
              </a:rPr>
              <a:t>Restricciones Duras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5075456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BD5E1"/>
                </a:solidFill>
                <a:latin typeface="Calibri"/>
              </a:rPr>
              <a:t>Permite modelar restricciones físicas acopladas (traslape, CG, contención) que las heurísticas suelen violar o ignorar.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544567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8BDF8"/>
                </a:solidFill>
                <a:latin typeface="Calibri"/>
              </a:rPr>
              <a:t>Linealización</a:t>
            </a:r>
            <a:r>
              <a:rPr sz="2000" b="1" i="0" dirty="0">
                <a:solidFill>
                  <a:srgbClr val="38BDF8"/>
                </a:solidFill>
                <a:latin typeface="Calibri"/>
              </a:rPr>
              <a:t> Big-M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5075456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BD5E1"/>
                </a:solidFill>
                <a:latin typeface="Calibri"/>
              </a:rPr>
              <a:t>La técnica 'M Grande' convierte condiciones lógicas no lineales en restricciones lineales, manteniendo el solver en territorio polinomial.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Formulación MILP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i="1" dirty="0">
                <a:solidFill>
                  <a:srgbClr val="38BDF8"/>
                </a:solidFill>
                <a:latin typeface="Calibri"/>
              </a:rPr>
              <a:t>Conjuntos, </a:t>
            </a:r>
            <a:r>
              <a:rPr i="1" dirty="0" err="1">
                <a:solidFill>
                  <a:srgbClr val="38BDF8"/>
                </a:solidFill>
                <a:latin typeface="Calibri"/>
              </a:rPr>
              <a:t>parámetros</a:t>
            </a:r>
            <a:r>
              <a:rPr i="1" dirty="0">
                <a:solidFill>
                  <a:srgbClr val="38BDF8"/>
                </a:solidFill>
                <a:latin typeface="Calibri"/>
              </a:rPr>
              <a:t> y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3474720" cy="51206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3474720" cy="51206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Conjuntos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3108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4E42E80-6A52-A86A-8121-0B4B41887DAB}"/>
              </a:ext>
            </a:extLst>
          </p:cNvPr>
          <p:cNvGrpSpPr/>
          <p:nvPr/>
        </p:nvGrpSpPr>
        <p:grpSpPr>
          <a:xfrm>
            <a:off x="502920" y="2052319"/>
            <a:ext cx="548640" cy="384048"/>
            <a:chOff x="502920" y="1874519"/>
            <a:chExt cx="548640" cy="384048"/>
          </a:xfrm>
        </p:grpSpPr>
        <p:sp>
          <p:nvSpPr>
            <p:cNvPr id="9" name="Rectangle 8"/>
            <p:cNvSpPr/>
            <p:nvPr/>
          </p:nvSpPr>
          <p:spPr>
            <a:xfrm>
              <a:off x="502920" y="1874519"/>
              <a:ext cx="548640" cy="384048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2920" y="1883663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1" i="0" dirty="0">
                  <a:solidFill>
                    <a:srgbClr val="FFFFFF"/>
                  </a:solidFill>
                  <a:latin typeface="Calibri"/>
                </a:rPr>
                <a:t>I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43000" y="1901951"/>
                <a:ext cx="25603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Cajas </a:t>
                </a:r>
                <a:r>
                  <a:rPr b="0" i="0" dirty="0" err="1">
                    <a:solidFill>
                      <a:srgbClr val="E2E8F0"/>
                    </a:solidFill>
                    <a:latin typeface="Calibri"/>
                  </a:rPr>
                  <a:t>disponibles</a:t>
                </a:r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b="0" i="0" dirty="0" err="1">
                    <a:solidFill>
                      <a:srgbClr val="E2E8F0"/>
                    </a:solidFill>
                    <a:latin typeface="Calibri"/>
                  </a:rPr>
                  <a:t>en</a:t>
                </a:r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b="0" i="0" dirty="0" err="1">
                    <a:solidFill>
                      <a:srgbClr val="E2E8F0"/>
                    </a:solidFill>
                    <a:latin typeface="Calibri"/>
                  </a:rPr>
                  <a:t>inventario</a:t>
                </a:r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GB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b="0" i="0" dirty="0">
                  <a:solidFill>
                    <a:srgbClr val="E2E8F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901951"/>
                <a:ext cx="2560320" cy="646331"/>
              </a:xfrm>
              <a:prstGeom prst="rect">
                <a:avLst/>
              </a:prstGeom>
              <a:blipFill>
                <a:blip r:embed="rId2"/>
                <a:stretch>
                  <a:fillRect l="-2143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616A86C-0C4B-BF65-ECE3-E840E24727F5}"/>
              </a:ext>
            </a:extLst>
          </p:cNvPr>
          <p:cNvGrpSpPr/>
          <p:nvPr/>
        </p:nvGrpSpPr>
        <p:grpSpPr>
          <a:xfrm>
            <a:off x="502920" y="2856991"/>
            <a:ext cx="548640" cy="384048"/>
            <a:chOff x="502920" y="2679191"/>
            <a:chExt cx="548640" cy="384048"/>
          </a:xfrm>
        </p:grpSpPr>
        <p:sp>
          <p:nvSpPr>
            <p:cNvPr id="12" name="Rectangle 11"/>
            <p:cNvSpPr/>
            <p:nvPr/>
          </p:nvSpPr>
          <p:spPr>
            <a:xfrm>
              <a:off x="502920" y="2679191"/>
              <a:ext cx="548640" cy="384048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2920" y="2688335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1" i="0" dirty="0">
                  <a:solidFill>
                    <a:srgbClr val="FFFFFF"/>
                  </a:solidFill>
                  <a:latin typeface="Calibri"/>
                </a:rPr>
                <a:t>J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43000" y="2706623"/>
                <a:ext cx="25603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b="0" i="0" dirty="0" err="1">
                    <a:solidFill>
                      <a:srgbClr val="E2E8F0"/>
                    </a:solidFill>
                    <a:latin typeface="Calibri"/>
                  </a:rPr>
                  <a:t>Compartimientos</a:t>
                </a:r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 del </a:t>
                </a:r>
                <a:r>
                  <a:rPr b="0" i="0" dirty="0" err="1">
                    <a:solidFill>
                      <a:srgbClr val="E2E8F0"/>
                    </a:solidFill>
                    <a:latin typeface="Calibri"/>
                  </a:rPr>
                  <a:t>avión</a:t>
                </a:r>
                <a:r>
                  <a:rPr b="0" i="0" dirty="0">
                    <a:solidFill>
                      <a:srgbClr val="E2E8F0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GB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b="0" i="0" dirty="0">
                  <a:solidFill>
                    <a:srgbClr val="E2E8F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706623"/>
                <a:ext cx="2560320" cy="646331"/>
              </a:xfrm>
              <a:prstGeom prst="rect">
                <a:avLst/>
              </a:prstGeom>
              <a:blipFill>
                <a:blip r:embed="rId3"/>
                <a:stretch>
                  <a:fillRect l="-2143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417320" y="3511295"/>
            <a:ext cx="228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E2E8F0"/>
                </a:solidFill>
                <a:latin typeface="Calibri"/>
              </a:rPr>
              <a:t>Pares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únicos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(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i,k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) con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i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&lt; k para no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traslape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—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elimina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redundancia</a:t>
            </a:r>
            <a:r>
              <a:rPr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E2E8F0"/>
                </a:solidFill>
                <a:latin typeface="Calibri"/>
              </a:rPr>
              <a:t>simétrica</a:t>
            </a:r>
            <a:endParaRPr b="0" i="0" dirty="0">
              <a:solidFill>
                <a:srgbClr val="E2E8F0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69080" y="1234440"/>
            <a:ext cx="3794760" cy="51206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0" y="1188720"/>
            <a:ext cx="3794760" cy="51206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12984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Parámetros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719072"/>
            <a:ext cx="342900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E27C02-E4C7-C973-DDA5-9D8B956AD5AB}"/>
              </a:ext>
            </a:extLst>
          </p:cNvPr>
          <p:cNvGrpSpPr/>
          <p:nvPr/>
        </p:nvGrpSpPr>
        <p:grpSpPr>
          <a:xfrm>
            <a:off x="4206240" y="1874519"/>
            <a:ext cx="3429000" cy="1066990"/>
            <a:chOff x="4206240" y="1874519"/>
            <a:chExt cx="3429000" cy="1066990"/>
          </a:xfrm>
        </p:grpSpPr>
        <p:sp>
          <p:nvSpPr>
            <p:cNvPr id="22" name="TextBox 21"/>
            <p:cNvSpPr txBox="1"/>
            <p:nvPr/>
          </p:nvSpPr>
          <p:spPr>
            <a:xfrm>
              <a:off x="4206240" y="1874519"/>
              <a:ext cx="777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FBBF24"/>
                  </a:solidFill>
                  <a:latin typeface="Calibri"/>
                </a:rPr>
                <a:t>Cajas: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206240" y="2161032"/>
                  <a:ext cx="342900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BO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</m:oMath>
                  </a14:m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 — </a:t>
                  </a:r>
                  <a:r>
                    <a:rPr lang="en-GB" sz="1200" b="0" i="0" dirty="0" err="1">
                      <a:solidFill>
                        <a:srgbClr val="E2E8F0"/>
                      </a:solidFill>
                      <a:latin typeface="Calibri"/>
                    </a:rPr>
                    <a:t>Dimensiones</a:t>
                  </a:r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 (ancho, largo, alto)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2161032"/>
                  <a:ext cx="3429000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222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206240" y="2417064"/>
                  <a:ext cx="342900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— Peso de la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caja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2417064"/>
                  <a:ext cx="3429000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22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206240" y="2664510"/>
                  <a:ext cx="342900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𝑣𝑎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— Valor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económico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2664510"/>
                  <a:ext cx="342900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A4201E0-9117-281A-6CCC-D2B92CFCCF6B}"/>
              </a:ext>
            </a:extLst>
          </p:cNvPr>
          <p:cNvGrpSpPr/>
          <p:nvPr/>
        </p:nvGrpSpPr>
        <p:grpSpPr>
          <a:xfrm>
            <a:off x="4206240" y="3245033"/>
            <a:ext cx="3429000" cy="1428736"/>
            <a:chOff x="4206240" y="3344323"/>
            <a:chExt cx="3429000" cy="1428736"/>
          </a:xfrm>
        </p:grpSpPr>
        <p:sp>
          <p:nvSpPr>
            <p:cNvPr id="26" name="TextBox 25"/>
            <p:cNvSpPr txBox="1"/>
            <p:nvPr/>
          </p:nvSpPr>
          <p:spPr>
            <a:xfrm>
              <a:off x="4206240" y="3344323"/>
              <a:ext cx="10246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FBBF24"/>
                  </a:solidFill>
                  <a:latin typeface="Calibri"/>
                </a:rPr>
                <a:t>Comp: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4206240" y="3611113"/>
                  <a:ext cx="3429000" cy="4983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dirty="0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dirty="0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1200" b="0" i="1" dirty="0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1200" b="0" i="1" dirty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GB" sz="1200" b="0" i="1" dirty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1200" b="0" i="1" dirty="0" err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—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Dimensiones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máximas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del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compartimiento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3611113"/>
                  <a:ext cx="3429000" cy="498342"/>
                </a:xfrm>
                <a:prstGeom prst="rect">
                  <a:avLst/>
                </a:prstGeom>
                <a:blipFill>
                  <a:blip r:embed="rId7"/>
                  <a:stretch>
                    <a:fillRect b="-853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4206240" y="4052878"/>
                  <a:ext cx="3429000" cy="2918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𝑊𝑚𝑎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—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Capacidad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máxima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de peso</a:t>
                  </a: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4052878"/>
                  <a:ext cx="3429000" cy="291875"/>
                </a:xfrm>
                <a:prstGeom prst="rect">
                  <a:avLst/>
                </a:prstGeom>
                <a:blipFill>
                  <a:blip r:embed="rId8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206240" y="4296518"/>
                  <a:ext cx="3429000" cy="4765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𝑌𝑐𝑜𝑚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— Distancia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nariz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→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inicio</a:t>
                  </a:r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del </a:t>
                  </a:r>
                  <a:r>
                    <a:rPr sz="1200" b="0" i="0" dirty="0" err="1">
                      <a:solidFill>
                        <a:srgbClr val="E2E8F0"/>
                      </a:solidFill>
                      <a:latin typeface="Calibri"/>
                    </a:rPr>
                    <a:t>compartimiento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4296518"/>
                  <a:ext cx="3429000" cy="476541"/>
                </a:xfrm>
                <a:prstGeom prst="rect">
                  <a:avLst/>
                </a:prstGeom>
                <a:blipFill>
                  <a:blip r:embed="rId9"/>
                  <a:stretch>
                    <a:fillRect b="-102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6D12FE-F6D3-CF93-A2CA-74EE56AD2672}"/>
              </a:ext>
            </a:extLst>
          </p:cNvPr>
          <p:cNvGrpSpPr/>
          <p:nvPr/>
        </p:nvGrpSpPr>
        <p:grpSpPr>
          <a:xfrm>
            <a:off x="4206240" y="4977294"/>
            <a:ext cx="3429000" cy="994793"/>
            <a:chOff x="4206240" y="4977294"/>
            <a:chExt cx="3429000" cy="994793"/>
          </a:xfrm>
        </p:grpSpPr>
        <p:sp>
          <p:nvSpPr>
            <p:cNvPr id="30" name="TextBox 29"/>
            <p:cNvSpPr txBox="1"/>
            <p:nvPr/>
          </p:nvSpPr>
          <p:spPr>
            <a:xfrm>
              <a:off x="4206240" y="4977294"/>
              <a:ext cx="10246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FBBF24"/>
                  </a:solidFill>
                  <a:latin typeface="Calibri"/>
                </a:rPr>
                <a:t>Global: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206240" y="5289803"/>
                  <a:ext cx="3429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ar-AE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ar-AE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ar-AE" sz="1200" b="0" i="1" dirty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200" b="0" i="1" dirty="0" err="1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ar-AE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err="1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BO" sz="1200" b="0" i="1" dirty="0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</m:oMath>
                  </a14:m>
                  <a:r>
                    <a:rPr lang="ar-AE" sz="1200" b="0" i="0" dirty="0">
                      <a:solidFill>
                        <a:srgbClr val="E2E8F0"/>
                      </a:solidFill>
                      <a:latin typeface="Calibri"/>
                    </a:rPr>
                    <a:t> — </a:t>
                  </a:r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Rango </a:t>
                  </a:r>
                  <a:r>
                    <a:rPr lang="en-GB" sz="1200" b="0" i="0" dirty="0" err="1">
                      <a:solidFill>
                        <a:srgbClr val="E2E8F0"/>
                      </a:solidFill>
                      <a:latin typeface="Calibri"/>
                    </a:rPr>
                    <a:t>seguro</a:t>
                  </a:r>
                  <a:r>
                    <a:rPr lang="en-GB" sz="1200" b="0" i="0" dirty="0">
                      <a:solidFill>
                        <a:srgbClr val="E2E8F0"/>
                      </a:solidFill>
                      <a:latin typeface="Calibri"/>
                    </a:rPr>
                    <a:t> de Centro de </a:t>
                  </a:r>
                  <a:r>
                    <a:rPr lang="en-GB" sz="1200" b="0" i="0" dirty="0" err="1">
                      <a:solidFill>
                        <a:srgbClr val="E2E8F0"/>
                      </a:solidFill>
                      <a:latin typeface="Calibri"/>
                    </a:rPr>
                    <a:t>Gravedad</a:t>
                  </a:r>
                  <a:endParaRPr sz="1200" b="0" i="0" dirty="0">
                    <a:solidFill>
                      <a:srgbClr val="E2E8F0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5289803"/>
                  <a:ext cx="3429000" cy="461665"/>
                </a:xfrm>
                <a:prstGeom prst="rect">
                  <a:avLst/>
                </a:prstGeom>
                <a:blipFill>
                  <a:blip r:embed="rId10"/>
                  <a:stretch>
                    <a:fillRect t="-2667" b="-10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206240" y="5695088"/>
                  <a:ext cx="342900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200" b="0" i="1" dirty="0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a14:m>
                  <a:r>
                    <a:rPr sz="1200" b="0" i="0" dirty="0">
                      <a:solidFill>
                        <a:srgbClr val="E2E8F0"/>
                      </a:solidFill>
                      <a:latin typeface="Calibri"/>
                    </a:rPr>
                    <a:t> — Constante Big-M</a:t>
                  </a: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40" y="5695088"/>
                  <a:ext cx="342900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Rounded Rectangle 32"/>
          <p:cNvSpPr/>
          <p:nvPr/>
        </p:nvSpPr>
        <p:spPr>
          <a:xfrm>
            <a:off x="8092440" y="1234440"/>
            <a:ext cx="3840480" cy="51206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46720" y="1188720"/>
            <a:ext cx="3840480" cy="51206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Variables de Decisión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719072"/>
            <a:ext cx="347472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05221BC-E77A-378B-B483-82F9FC072FA9}"/>
              </a:ext>
            </a:extLst>
          </p:cNvPr>
          <p:cNvGrpSpPr/>
          <p:nvPr/>
        </p:nvGrpSpPr>
        <p:grpSpPr>
          <a:xfrm>
            <a:off x="8229600" y="1874519"/>
            <a:ext cx="3383280" cy="919978"/>
            <a:chOff x="8229600" y="1874519"/>
            <a:chExt cx="3383280" cy="919978"/>
          </a:xfrm>
        </p:grpSpPr>
        <p:sp>
          <p:nvSpPr>
            <p:cNvPr id="37" name="Rectangle 36"/>
            <p:cNvSpPr/>
            <p:nvPr/>
          </p:nvSpPr>
          <p:spPr>
            <a:xfrm>
              <a:off x="8229600" y="1874519"/>
              <a:ext cx="3383280" cy="900000"/>
            </a:xfrm>
            <a:prstGeom prst="rect">
              <a:avLst/>
            </a:prstGeom>
            <a:solidFill>
              <a:srgbClr val="1420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21040" y="1901951"/>
              <a:ext cx="3108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0B0F1A"/>
                  </a:solidFill>
                  <a:latin typeface="Calibri"/>
                </a:rPr>
                <a:t>Binaria Principal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8321040" y="2167127"/>
                  <a:ext cx="310896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∈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GB" sz="1200" b="1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1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GB" sz="1200" b="1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200" b="1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040" y="2167127"/>
                  <a:ext cx="3108960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/>
            <p:cNvSpPr txBox="1"/>
            <p:nvPr/>
          </p:nvSpPr>
          <p:spPr>
            <a:xfrm>
              <a:off x="8321040" y="2532887"/>
              <a:ext cx="31089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1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si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caja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i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está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en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compartimiento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j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FA0B5FE-6666-D818-B366-19676D9C2D46}"/>
              </a:ext>
            </a:extLst>
          </p:cNvPr>
          <p:cNvGrpSpPr/>
          <p:nvPr/>
        </p:nvGrpSpPr>
        <p:grpSpPr>
          <a:xfrm>
            <a:off x="8229600" y="2991582"/>
            <a:ext cx="3383280" cy="919978"/>
            <a:chOff x="8229600" y="2933611"/>
            <a:chExt cx="3383280" cy="919978"/>
          </a:xfrm>
        </p:grpSpPr>
        <p:sp>
          <p:nvSpPr>
            <p:cNvPr id="41" name="Rectangle 40"/>
            <p:cNvSpPr/>
            <p:nvPr/>
          </p:nvSpPr>
          <p:spPr>
            <a:xfrm>
              <a:off x="8229600" y="2933611"/>
              <a:ext cx="3383280" cy="900000"/>
            </a:xfrm>
            <a:prstGeom prst="rect">
              <a:avLst/>
            </a:prstGeom>
            <a:solidFill>
              <a:srgbClr val="1420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21040" y="2961043"/>
              <a:ext cx="3108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4C1D95"/>
                  </a:solidFill>
                  <a:latin typeface="Calibri"/>
                </a:rPr>
                <a:t>Direccionales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8321040" y="3226219"/>
                  <a:ext cx="28194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𝒍𝒆𝒇𝒕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𝒓𝒊𝒈𝒉𝒕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𝒇𝒓𝒐𝒏𝒕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𝒃𝒂𝒄𝒌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𝒃𝒆𝒍𝒐𝒘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𝒂𝒃𝒐𝒗𝒆</m:t>
                        </m:r>
                        <m:r>
                          <a:rPr lang="en-GB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∈ {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040" y="3226219"/>
                  <a:ext cx="281940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/>
            <p:cNvSpPr txBox="1"/>
            <p:nvPr/>
          </p:nvSpPr>
          <p:spPr>
            <a:xfrm>
              <a:off x="8321040" y="3591979"/>
              <a:ext cx="31089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94A3B8"/>
                  </a:solidFill>
                  <a:latin typeface="Calibri"/>
                </a:rPr>
                <a:t>Garantizan no traslape entre par (i,k)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A1EE77-DED8-DB58-E56F-14F86D7B985F}"/>
              </a:ext>
            </a:extLst>
          </p:cNvPr>
          <p:cNvGrpSpPr/>
          <p:nvPr/>
        </p:nvGrpSpPr>
        <p:grpSpPr>
          <a:xfrm>
            <a:off x="8229600" y="4108645"/>
            <a:ext cx="3383280" cy="919978"/>
            <a:chOff x="8229600" y="4110139"/>
            <a:chExt cx="3383280" cy="919978"/>
          </a:xfrm>
        </p:grpSpPr>
        <p:sp>
          <p:nvSpPr>
            <p:cNvPr id="45" name="Rectangle 44"/>
            <p:cNvSpPr/>
            <p:nvPr/>
          </p:nvSpPr>
          <p:spPr>
            <a:xfrm>
              <a:off x="8229600" y="4110139"/>
              <a:ext cx="3383280" cy="900000"/>
            </a:xfrm>
            <a:prstGeom prst="rect">
              <a:avLst/>
            </a:prstGeom>
            <a:solidFill>
              <a:srgbClr val="1420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21040" y="4137571"/>
              <a:ext cx="3108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34D399"/>
                  </a:solidFill>
                  <a:latin typeface="Calibri"/>
                </a:rPr>
                <a:t>Coordenadas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8321040" y="4402747"/>
                  <a:ext cx="310896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≥ 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040" y="4402747"/>
                  <a:ext cx="3108960" cy="276999"/>
                </a:xfrm>
                <a:prstGeom prst="rect">
                  <a:avLst/>
                </a:prstGeom>
                <a:blipFill>
                  <a:blip r:embed="rId1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/>
            <p:cNvSpPr txBox="1"/>
            <p:nvPr/>
          </p:nvSpPr>
          <p:spPr>
            <a:xfrm>
              <a:off x="8321040" y="4768507"/>
              <a:ext cx="310896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Posición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exacta de la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esquina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inferior-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izq</a:t>
              </a:r>
              <a:r>
                <a:rPr sz="1050" b="0" i="0" dirty="0">
                  <a:solidFill>
                    <a:srgbClr val="94A3B8"/>
                  </a:solidFill>
                  <a:latin typeface="Calibri"/>
                </a:rPr>
                <a:t> de la </a:t>
              </a:r>
              <a:r>
                <a:rPr sz="1050" b="0" i="0" dirty="0" err="1">
                  <a:solidFill>
                    <a:srgbClr val="94A3B8"/>
                  </a:solidFill>
                  <a:latin typeface="Calibri"/>
                </a:rPr>
                <a:t>caja</a:t>
              </a:r>
              <a:endParaRPr sz="1050" b="0" i="0" dirty="0">
                <a:solidFill>
                  <a:srgbClr val="94A3B8"/>
                </a:solidFill>
                <a:latin typeface="Calibri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005A192-5205-5280-AC8B-EE6D2522ED52}"/>
              </a:ext>
            </a:extLst>
          </p:cNvPr>
          <p:cNvGrpSpPr/>
          <p:nvPr/>
        </p:nvGrpSpPr>
        <p:grpSpPr>
          <a:xfrm>
            <a:off x="8229600" y="5225707"/>
            <a:ext cx="3383280" cy="912284"/>
            <a:chOff x="8229600" y="5225707"/>
            <a:chExt cx="3383280" cy="912284"/>
          </a:xfrm>
        </p:grpSpPr>
        <p:sp>
          <p:nvSpPr>
            <p:cNvPr id="49" name="Rectangle 48"/>
            <p:cNvSpPr/>
            <p:nvPr/>
          </p:nvSpPr>
          <p:spPr>
            <a:xfrm>
              <a:off x="8229600" y="5225707"/>
              <a:ext cx="3383280" cy="900000"/>
            </a:xfrm>
            <a:prstGeom prst="rect">
              <a:avLst/>
            </a:prstGeom>
            <a:solidFill>
              <a:srgbClr val="1420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21040" y="5253139"/>
              <a:ext cx="3108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DC2626"/>
                  </a:solidFill>
                  <a:latin typeface="Calibri"/>
                </a:rPr>
                <a:t>Balance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8321040" y="5518315"/>
                  <a:ext cx="3108960" cy="2936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GB" sz="1200" b="1" i="1" dirty="0" err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𝒂𝒃</m:t>
                            </m:r>
                            <m:sSub>
                              <m:sSubPr>
                                <m:ctrlPr>
                                  <a:rPr lang="en-GB" sz="1200" b="1" i="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200" b="1" i="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GB" sz="1200" b="1" i="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≥ </m:t>
                        </m:r>
                        <m:r>
                          <a:rPr lang="en-GB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040" y="5518315"/>
                  <a:ext cx="3108960" cy="293607"/>
                </a:xfrm>
                <a:prstGeom prst="rect">
                  <a:avLst/>
                </a:prstGeom>
                <a:blipFill>
                  <a:blip r:embed="rId15"/>
                  <a:stretch>
                    <a:fillRect b="-104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51"/>
            <p:cNvSpPr txBox="1"/>
            <p:nvPr/>
          </p:nvSpPr>
          <p:spPr>
            <a:xfrm>
              <a:off x="8321040" y="5884075"/>
              <a:ext cx="31089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94A3B8"/>
                  </a:solidFill>
                  <a:latin typeface="Calibri"/>
                </a:rPr>
                <a:t>Brazo de palanca longitudinal absoluto desde la nariz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4E04A39-E6C9-3726-32C2-1B1FD70DE0CD}"/>
              </a:ext>
            </a:extLst>
          </p:cNvPr>
          <p:cNvGrpSpPr/>
          <p:nvPr/>
        </p:nvGrpSpPr>
        <p:grpSpPr>
          <a:xfrm>
            <a:off x="502920" y="3915663"/>
            <a:ext cx="822960" cy="384048"/>
            <a:chOff x="502920" y="3483863"/>
            <a:chExt cx="822960" cy="384048"/>
          </a:xfrm>
        </p:grpSpPr>
        <p:sp>
          <p:nvSpPr>
            <p:cNvPr id="15" name="Rectangle 14"/>
            <p:cNvSpPr/>
            <p:nvPr/>
          </p:nvSpPr>
          <p:spPr>
            <a:xfrm>
              <a:off x="502920" y="3483863"/>
              <a:ext cx="822960" cy="384048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20" y="3493007"/>
              <a:ext cx="8229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1" i="0" dirty="0">
                  <a:solidFill>
                    <a:srgbClr val="FFFFFF"/>
                  </a:solidFill>
                  <a:latin typeface="Calibri"/>
                </a:rPr>
                <a:t>Pares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Función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9100" y="320040"/>
            <a:ext cx="511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 err="1">
                <a:solidFill>
                  <a:srgbClr val="38BDF8"/>
                </a:solidFill>
                <a:latin typeface="Calibri"/>
              </a:rPr>
              <a:t>Maximización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económica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+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gravedad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artificial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247120" cy="114300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6000"/>
            </a:avLst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1520" y="1261872"/>
                <a:ext cx="10789920" cy="487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𝑴𝒂𝒙</m:t>
                      </m:r>
                      <m:r>
                        <a:rPr lang="en-GB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GB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GB" sz="2200" b="1" i="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b="1" i="0" dirty="0" err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2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1" i="1" dirty="0" err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𝒗𝒂</m:t>
                          </m:r>
                          <m:sSub>
                            <m:sSubPr>
                              <m:ctrlP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22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· </m:t>
                          </m:r>
                          <m:sSub>
                            <m:sSubPr>
                              <m:ctrlP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−  </m:t>
                      </m:r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GB" sz="2200" b="1" i="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22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2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22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22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22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61872"/>
                <a:ext cx="10789920" cy="487185"/>
              </a:xfrm>
              <a:prstGeom prst="rect">
                <a:avLst/>
              </a:prstGeom>
              <a:blipFill>
                <a:blip r:embed="rId2"/>
                <a:stretch>
                  <a:fillRect t="-6250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31520" y="19202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BBF24"/>
                </a:solidFill>
                <a:latin typeface="Calibri"/>
              </a:rPr>
              <a:t>donde  λ = 0.001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14600"/>
            <a:ext cx="5394960" cy="35204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5394960" cy="35204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① Maximización Económica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4360" y="3017520"/>
                <a:ext cx="4937760" cy="37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0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0" dirty="0" err="1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600" b="1" i="1" dirty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b="1" i="1" dirty="0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err="1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  <m:t>𝒗𝒂</m:t>
                          </m:r>
                          <m:sSub>
                            <m:sSubPr>
                              <m:ctrlP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1600" b="1" i="1" dirty="0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  <m:t>· </m:t>
                          </m:r>
                          <m:sSub>
                            <m:sSubPr>
                              <m:ctrlP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017520"/>
                <a:ext cx="4937760" cy="379463"/>
              </a:xfrm>
              <a:prstGeom prst="rect">
                <a:avLst/>
              </a:prstGeom>
              <a:blipFill>
                <a:blip r:embed="rId3"/>
                <a:stretch>
                  <a:fillRect t="-1613" b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4360" y="3520440"/>
                <a:ext cx="4937760" cy="845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El solver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activa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dirty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dirty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1200" b="0" i="1" dirty="0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1200" b="0" i="1" dirty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1200" b="0" i="1" dirty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b="0" i="1" dirty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para las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cajas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con mayor valor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económico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.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Corresponde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a la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lógica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clásica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del Knapsack Problem: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seleccionar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el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subconjunto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de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ítems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que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maximiza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la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ganancia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bajo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restricciones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 de </a:t>
                </a:r>
                <a:r>
                  <a:rPr sz="1200" b="0" i="0" dirty="0" err="1">
                    <a:solidFill>
                      <a:srgbClr val="CBD5E1"/>
                    </a:solidFill>
                    <a:latin typeface="Calibri"/>
                  </a:rPr>
                  <a:t>capacidad</a:t>
                </a:r>
                <a:r>
                  <a:rPr sz="1200" b="0" i="0" dirty="0">
                    <a:solidFill>
                      <a:srgbClr val="CBD5E1"/>
                    </a:solidFill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520440"/>
                <a:ext cx="4937760" cy="845873"/>
              </a:xfrm>
              <a:prstGeom prst="rect">
                <a:avLst/>
              </a:prstGeom>
              <a:blipFill>
                <a:blip r:embed="rId4"/>
                <a:stretch>
                  <a:fillRect l="-123" b="-5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943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Prioridad: ALTA — decisiones económicas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1208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La ganancia de cualquier caja siempre supera su penalización de posición → λ garantiza que el sistema jamás sacrifique valor por posición.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14600"/>
            <a:ext cx="5394960" cy="35204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2468880"/>
            <a:ext cx="5394960" cy="35204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5786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② Gravedad Artificial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537960" y="3017520"/>
                <a:ext cx="49377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−  </m:t>
                      </m:r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𝟎𝟎𝟏</m:t>
                      </m:r>
                      <m:r>
                        <a:rPr lang="en-GB" sz="1600" b="1" i="1" dirty="0" smtClean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GB" sz="1600" b="1" i="0" dirty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600" b="1" i="1" dirty="0">
                          <a:solidFill>
                            <a:srgbClr val="FBBF2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b="1" i="1" dirty="0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1600" b="1" i="1" dirty="0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GB" sz="1600" b="1" i="1" dirty="0">
                              <a:solidFill>
                                <a:srgbClr val="FBBF24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600" b="1" i="1" dirty="0" err="1">
                                  <a:solidFill>
                                    <a:srgbClr val="FBBF24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017520"/>
                <a:ext cx="4937760" cy="338554"/>
              </a:xfrm>
              <a:prstGeom prst="rect">
                <a:avLst/>
              </a:prstGeom>
              <a:blipFill>
                <a:blip r:embed="rId5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537960" y="3520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Sin esta penalización, un solver algebraico no tiene físicas: las cajas 'flotarían' en el centro del compartimiento o pegadas al techo. Esto genera múltiples óptimos degenerados inviables en la realidad operativa.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Prioridad: BAJA — solo desempata posiciones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Efecto: compacta automáticamente la carga hacia el suelo (z=0), pared frontal (y=0) y lateral (x=0).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Restricciones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Cuatro grupos de restricciones que garantizan una solución físicamente viable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79" y="1298448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325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Unicidad y Capacidad de Peso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Cada caja puede ir en máximo un compartimiento (o quedarse en tierra). El peso total asignado al compartimiento j no puede superar su límite estructural Wmax_j.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2816352"/>
                <a:ext cx="5212080" cy="44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0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GB" sz="1050" b="1" i="1" dirty="0" err="1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𝑾𝒎𝒂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sz="1050" b="1" i="0" dirty="0" smtClean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3B82F6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050" b="1" i="1" dirty="0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GB" sz="1050" b="1" i="1" dirty="0" err="1">
                          <a:solidFill>
                            <a:srgbClr val="3B82F6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16352"/>
                <a:ext cx="5212080" cy="446148"/>
              </a:xfrm>
              <a:prstGeom prst="rect">
                <a:avLst/>
              </a:prstGeom>
              <a:blipFill>
                <a:blip r:embed="rId2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6355080" y="1234440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298448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325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Contención Geométrica (Big-M)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46520" y="1828800"/>
                <a:ext cx="5212080" cy="613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Las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dimensiones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de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una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caja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más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su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posición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no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pueden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superar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el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tamaño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del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compartimiento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. Solo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activa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si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en-GB" sz="1100" b="0" i="1" dirty="0" err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100" b="0" i="1" dirty="0" err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dirty="0" err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1100" b="0" i="1" dirty="0" err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, la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restricción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se '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desactiva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'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sumando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M.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828800"/>
                <a:ext cx="5212080" cy="613758"/>
              </a:xfrm>
              <a:prstGeom prst="rect">
                <a:avLst/>
              </a:prstGeom>
              <a:blipFill>
                <a:blip r:embed="rId3"/>
                <a:stretch>
                  <a:fillRect t="-990" b="-5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46520" y="2816352"/>
                <a:ext cx="5212080" cy="706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 err="1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sSub>
                            <m:sSubPr>
                              <m:ctrlP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 err="1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sSub>
                            <m:sSubPr>
                              <m:ctrlP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GB" sz="1050" b="1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050" b="1" i="1" dirty="0" smtClean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 err="1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sSub>
                            <m:sSubPr>
                              <m:ctrlP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GB" sz="1050" b="1" i="1" dirty="0" err="1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050" b="1" i="1" dirty="0">
                          <a:solidFill>
                            <a:srgbClr val="14B8A6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050" b="1" i="1" dirty="0">
                              <a:solidFill>
                                <a:srgbClr val="14B8A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B" sz="1050" b="1" i="1" dirty="0">
                                  <a:solidFill>
                                    <a:srgbClr val="14B8A6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2816352"/>
                <a:ext cx="5212080" cy="706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>
          <a:xfrm>
            <a:off x="365759" y="3794759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0040" y="3749039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79" y="3858768"/>
            <a:ext cx="4572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79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38862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No Traslape (Restricción Disyuntiva)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Para cualquier par (i,k) en el mismo compartimiento, al menos una relación espacial exclusiva debe cumplirse: izquierda, derecha, frente, atrás, debajo, encima.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7200" y="5376672"/>
                <a:ext cx="5212080" cy="4308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 + 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𝒃𝒆𝒍𝒐𝒘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𝒂𝒃𝒐𝒗𝒆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𝒌𝒋</m:t>
                          </m:r>
                        </m:sub>
                      </m:sSub>
                      <m:r>
                        <a:rPr lang="en-GB" sz="1050" b="1" i="1" dirty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GB" sz="1050" b="1" i="1" dirty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𝒍𝒆𝒇𝒕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𝒓𝒊𝒈𝒉𝒕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𝒇𝒓𝒐𝒏𝒕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050" b="1" i="1" dirty="0" smtClean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𝒃𝒂𝒄𝒌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76672"/>
                <a:ext cx="5212080" cy="430824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/>
          <p:cNvSpPr/>
          <p:nvPr/>
        </p:nvSpPr>
        <p:spPr>
          <a:xfrm>
            <a:off x="6355080" y="3794759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3749039"/>
            <a:ext cx="5577840" cy="242316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858768"/>
            <a:ext cx="45720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8862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Balance Estático (Centro de Gravedad)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446520" y="4389120"/>
                <a:ext cx="521208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El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momento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estático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longitudinal (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suma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de peso ×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brazo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de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palanca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)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debe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estar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dentro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del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rango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GB" sz="1100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1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GB" sz="1100" b="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sz="1100" b="0" i="1" dirty="0" err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sz="1100" b="0" i="1" dirty="0" err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dirty="0" err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func>
                          <m:funcPr>
                            <m:ctrlPr>
                              <a:rPr lang="en-GB" sz="1100" b="0" i="1" dirty="0" err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100" b="0" i="0" dirty="0" err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/>
                        </m:func>
                      </m:sub>
                    </m:sSub>
                  </m:oMath>
                </a14:m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definido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por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el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fabricante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. Se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linealiza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multiplicando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en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 </a:t>
                </a:r>
                <a:r>
                  <a:rPr sz="1100" b="0" i="0" dirty="0" err="1">
                    <a:solidFill>
                      <a:srgbClr val="E2E8F0"/>
                    </a:solidFill>
                    <a:latin typeface="Calibri"/>
                  </a:rPr>
                  <a:t>cruz</a:t>
                </a:r>
                <a:r>
                  <a:rPr sz="1100" b="0" i="0" dirty="0">
                    <a:solidFill>
                      <a:srgbClr val="E2E8F0"/>
                    </a:solidFill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4389120"/>
                <a:ext cx="5212080" cy="430887"/>
              </a:xfrm>
              <a:prstGeom prst="rect">
                <a:avLst/>
              </a:prstGeom>
              <a:blipFill>
                <a:blip r:embed="rId6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46520" y="5376672"/>
                <a:ext cx="5212080" cy="44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0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𝒂𝒃</m:t>
                          </m:r>
                          <m:sSub>
                            <m:sSubPr>
                              <m:ctrlP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func>
                            <m:funcPr>
                              <m:ctrlPr>
                                <a:rPr lang="en-GB" sz="1050" b="1" i="1" dirty="0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050" b="0" i="0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/>
                          </m:func>
                        </m:sub>
                      </m:sSub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en-GB" sz="1050" b="1" i="0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1" i="0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GB" sz="1050" b="1" i="0" dirty="0" smtClean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𝒂𝒃</m:t>
                          </m:r>
                          <m:sSub>
                            <m:sSubPr>
                              <m:ctrlP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1050" b="1" i="1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≥ </m:t>
                      </m:r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func>
                            <m:funcPr>
                              <m:ctrlPr>
                                <a:rPr lang="en-GB" sz="1050" b="1" i="1" dirty="0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050" b="0" i="0" dirty="0" err="1">
                                  <a:solidFill>
                                    <a:srgbClr val="F8717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sub>
                      </m:sSub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en-GB" sz="1050" b="1" i="0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1" i="0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GB" sz="1050" b="1" i="1" dirty="0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050" b="1" i="1" dirty="0" err="1">
                          <a:solidFill>
                            <a:srgbClr val="F8717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B" sz="1050" b="1" i="1" dirty="0" err="1">
                              <a:solidFill>
                                <a:srgbClr val="F8717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5376672"/>
                <a:ext cx="5212080" cy="446148"/>
              </a:xfrm>
              <a:prstGeom prst="rect">
                <a:avLst/>
              </a:prstGeom>
              <a:blipFill>
                <a:blip r:embed="rId7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Centro de Gravedad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 err="1">
                <a:solidFill>
                  <a:srgbClr val="38BDF8"/>
                </a:solidFill>
                <a:latin typeface="Calibri"/>
              </a:rPr>
              <a:t>Condición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crítica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de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aeronavegabilidad</a:t>
            </a:r>
            <a:endParaRPr b="0" i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2412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2103120"/>
            <a:ext cx="3200400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50977" y="987557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ZONA SEGURA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783080"/>
            <a:ext cx="109728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79592" y="1536192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  <a:latin typeface="Calibri"/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0090" y="139522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BBF24"/>
                </a:solidFill>
                <a:latin typeface="Calibri"/>
              </a:rPr>
              <a:t>CG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NARIZ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880360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COLA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5656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4D399"/>
                </a:solidFill>
                <a:latin typeface="Calibri"/>
              </a:rPr>
              <a:t>CG_min</a:t>
            </a:r>
            <a:endParaRPr sz="1200" b="0" i="0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43800" y="295656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4D399"/>
                </a:solidFill>
                <a:latin typeface="Calibri"/>
              </a:rPr>
              <a:t>CG_max</a:t>
            </a:r>
            <a:endParaRPr sz="1200" b="0" i="0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59" y="342900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338328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2920" y="3474720"/>
                <a:ext cx="5029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b="1" i="0" dirty="0">
                    <a:solidFill>
                      <a:srgbClr val="F87171"/>
                    </a:solidFill>
                    <a:latin typeface="Calibri"/>
                  </a:rPr>
                  <a:t>⚠  CG Adelantado 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87171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GB" b="1" i="1" dirty="0" err="1">
                        <a:solidFill>
                          <a:srgbClr val="F8717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ar-AE" b="1" i="1" dirty="0" err="1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dirty="0" err="1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ar-AE" b="1" i="1" dirty="0" smtClean="0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BO" b="1" i="1" dirty="0" smtClean="0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</m:oMath>
                </a14:m>
                <a:endParaRPr b="1" i="0" dirty="0">
                  <a:solidFill>
                    <a:srgbClr val="F87171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474720"/>
                <a:ext cx="5029200" cy="369332"/>
              </a:xfrm>
              <a:prstGeom prst="rect">
                <a:avLst/>
              </a:prstGeom>
              <a:blipFill>
                <a:blip r:embed="rId2"/>
                <a:stretch>
                  <a:fillRect l="-1091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02920" y="3904487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Avión pesado de nariz: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5C5"/>
                </a:solidFill>
                <a:latin typeface="Calibri"/>
              </a:rPr>
              <a:t>→ Los elevadores generan fuerza descendente masiva
→ Mayor resistencia aerodinámica y consumo de combustible
→ Riesgo: sin autoridad de cabeceo para rotar en el despegue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42900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60" y="338328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92240" y="3474720"/>
                <a:ext cx="5029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b="1" i="0" dirty="0">
                    <a:solidFill>
                      <a:srgbClr val="F87171"/>
                    </a:solidFill>
                    <a:latin typeface="Calibri"/>
                  </a:rPr>
                  <a:t>⚠  CG </a:t>
                </a:r>
                <a:r>
                  <a:rPr lang="en-GB" b="1" i="0" dirty="0" err="1">
                    <a:solidFill>
                      <a:srgbClr val="F87171"/>
                    </a:solidFill>
                    <a:latin typeface="Calibri"/>
                  </a:rPr>
                  <a:t>Atrasado</a:t>
                </a:r>
                <a:r>
                  <a:rPr lang="en-GB" b="1" i="0" dirty="0">
                    <a:solidFill>
                      <a:srgbClr val="F87171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87171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GB" b="1" i="1" dirty="0" err="1">
                        <a:solidFill>
                          <a:srgbClr val="F8717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ar-AE" b="1" i="1" dirty="0" err="1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dirty="0" err="1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s-BO" b="1" i="1" dirty="0" smtClean="0">
                            <a:solidFill>
                              <a:srgbClr val="F87171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endParaRPr b="1" i="0" dirty="0">
                  <a:solidFill>
                    <a:srgbClr val="F87171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3474720"/>
                <a:ext cx="5029200" cy="369332"/>
              </a:xfrm>
              <a:prstGeom prst="rect">
                <a:avLst/>
              </a:prstGeom>
              <a:blipFill>
                <a:blip r:embed="rId3"/>
                <a:stretch>
                  <a:fillRect l="-970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6492240" y="3904487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Avión pesado de cola: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5C5"/>
                </a:solidFill>
                <a:latin typeface="Calibri"/>
              </a:rPr>
              <a:t>→ Estabilidad longitudinal estática reducida drásticamente
→ Tendencia peligrosa al encabritamiento descontrolado
→ Riesgo: entrada en pérdida (stall) irrecuperable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59" y="612648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0040" y="6080760"/>
            <a:ext cx="11430000" cy="621792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14476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CBD5E1"/>
                </a:solidFill>
                <a:latin typeface="Calibri"/>
              </a:rPr>
              <a:t>Linealización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: En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lugar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calcular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CG = Σ(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w·Y_abs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) / Σ(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w·V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) —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introduce no-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linealidad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división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— se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multiplica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cruz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manteniendo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modelo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BD5E1"/>
                </a:solidFill>
                <a:latin typeface="Calibri"/>
              </a:rPr>
              <a:t>estrictamente</a:t>
            </a:r>
            <a:r>
              <a:rPr sz="1400" b="0" i="0" dirty="0">
                <a:solidFill>
                  <a:srgbClr val="CBD5E1"/>
                </a:solidFill>
                <a:latin typeface="Calibri"/>
              </a:rPr>
              <a:t> lineal para CPLEX.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0" y="320040"/>
            <a:ext cx="556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>
                <a:solidFill>
                  <a:srgbClr val="38BDF8"/>
                </a:solidFill>
                <a:latin typeface="Calibri"/>
              </a:rPr>
              <a:t>Backend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desacoplado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+ Frontend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interactivo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3D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Ingesta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10512"/>
            <a:ext cx="260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94A3B8"/>
                </a:solidFill>
                <a:latin typeface="Calibri"/>
              </a:rPr>
              <a:t>CSV → 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67712"/>
            <a:ext cx="324612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inventario_de_cajas.csv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25496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base_de_aviones.csv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27832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Filtrado, validación y mapeo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Conversión a diccionarios Pyomo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3444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43400" y="118872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1325880"/>
            <a:ext cx="59436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448056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38988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Calibri"/>
              </a:rPr>
              <a:t>Optimización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810512"/>
            <a:ext cx="260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94A3B8"/>
                </a:solidFill>
                <a:latin typeface="Calibri"/>
              </a:rPr>
              <a:t>Pyomo + CPLEX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267712"/>
            <a:ext cx="3246120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4526280" y="242316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pyo.ConcreteModel()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25496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Conjuntos, parámetros,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227832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Restricciones MILP + Big-M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30168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Solver: cplex_direct (120s limit)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123444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21040" y="1188720"/>
            <a:ext cx="3611880" cy="4169664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58200" y="1325880"/>
            <a:ext cx="594360" cy="5943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45820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1389888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  <a:latin typeface="Calibri"/>
              </a:rPr>
              <a:t>Visualización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1810512"/>
            <a:ext cx="260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94A3B8"/>
                </a:solidFill>
                <a:latin typeface="Calibri"/>
              </a:rPr>
              <a:t>JSON → Three.js / WebGL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19" y="2267712"/>
            <a:ext cx="3246120" cy="228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503919" y="242316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resultado_optimizacion.json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2825496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Renderizado 3D de compartimientos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3227832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Cajas en posición exacta (x,y,z)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3630168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E2E8F0"/>
                </a:solidFill>
                <a:latin typeface="Calibri"/>
              </a:rPr>
              <a:t>→  Área de carga rechazada en pista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39" y="3566160"/>
            <a:ext cx="32004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4160520" y="3375212"/>
            <a:ext cx="365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38BDF8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566160"/>
            <a:ext cx="32004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8138159" y="3375212"/>
            <a:ext cx="365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  <a:latin typeface="Calibri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59" y="5619206"/>
            <a:ext cx="11430000" cy="5943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20040" y="5573488"/>
            <a:ext cx="11430000" cy="594360"/>
          </a:xfrm>
          <a:prstGeom prst="roundRect">
            <a:avLst>
              <a:gd name="adj" fmla="val 6000"/>
            </a:avLst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58858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E2E8F0"/>
                </a:solidFill>
                <a:latin typeface="Calibri"/>
              </a:rPr>
              <a:t>Contrato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de API: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resultado_optimizacion.json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incluye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geometría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compartimientos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coordenadas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(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x,y,z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) de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cajas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cargadas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y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lista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de carga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rechazada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renderizado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E2E8F0"/>
                </a:solidFill>
                <a:latin typeface="Calibri"/>
              </a:rPr>
              <a:t>correcto</a:t>
            </a:r>
            <a:r>
              <a:rPr sz="1400" b="0" i="0" dirty="0">
                <a:solidFill>
                  <a:srgbClr val="E2E8F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Caso de Estudio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>
                <a:solidFill>
                  <a:srgbClr val="38BDF8"/>
                </a:solidFill>
                <a:latin typeface="Calibri"/>
              </a:rPr>
              <a:t>Fallo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Geométrico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Exitoso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— AirbusA330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4114800" cy="51206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4114800" cy="5120640"/>
          </a:xfrm>
          <a:prstGeom prst="roundRect">
            <a:avLst>
              <a:gd name="adj" fmla="val 6000"/>
            </a:avLst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❌  Caja C10 — RECHAZADA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64792"/>
            <a:ext cx="3749039" cy="228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Peso: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202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1,200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Valor: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3774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$3,000 USD  ← MÁXIMO del inventario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Dimensión dx: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346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4.0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L_X del avión: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918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3.5 m  ← INFERIOR al ancho de la caja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77639"/>
            <a:ext cx="3657600" cy="1280160"/>
          </a:xfrm>
          <a:prstGeom prst="rect">
            <a:avLst/>
          </a:prstGeom>
          <a:solidFill>
            <a:srgbClr val="3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4.0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dx caja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062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87171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096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3.5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L_X avión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7650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rgbClr val="F87171"/>
                </a:solidFill>
                <a:latin typeface="Calibri"/>
              </a:rPr>
              <a:t>Restricción</a:t>
            </a:r>
            <a:r>
              <a:rPr sz="1400" b="0" i="1" dirty="0">
                <a:solidFill>
                  <a:srgbClr val="F87171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F87171"/>
                </a:solidFill>
                <a:latin typeface="Calibri"/>
              </a:rPr>
              <a:t>contención</a:t>
            </a:r>
            <a:r>
              <a:rPr sz="1400" b="0" i="1" dirty="0">
                <a:solidFill>
                  <a:srgbClr val="F87171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87171"/>
                </a:solidFill>
                <a:latin typeface="Calibri"/>
              </a:rPr>
              <a:t>detectada</a:t>
            </a:r>
            <a:r>
              <a:rPr sz="1400" b="0" i="1" dirty="0">
                <a:solidFill>
                  <a:srgbClr val="F87171"/>
                </a:solidFill>
                <a:latin typeface="Calibri"/>
              </a:rPr>
              <a:t> antes de </a:t>
            </a:r>
            <a:r>
              <a:rPr sz="1400" b="0" i="1" dirty="0" err="1">
                <a:solidFill>
                  <a:srgbClr val="F87171"/>
                </a:solidFill>
                <a:latin typeface="Calibri"/>
              </a:rPr>
              <a:t>asignación</a:t>
            </a:r>
            <a:endParaRPr sz="1400" b="0" i="1" dirty="0">
              <a:solidFill>
                <a:srgbClr val="F87171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09159" y="1234440"/>
            <a:ext cx="7223760" cy="51206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663440" y="1188720"/>
            <a:ext cx="7223760" cy="51206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129844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Resultado de la Optimización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828800"/>
            <a:ext cx="681228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874519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BF24"/>
                </a:solidFill>
                <a:latin typeface="Cambria"/>
              </a:rPr>
              <a:t>$10,249.98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95728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CBD5E1"/>
                </a:solidFill>
                <a:latin typeface="Calibri"/>
              </a:rPr>
              <a:t>Ganancia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neta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optimizada</a:t>
            </a:r>
            <a:endParaRPr sz="16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92040" y="3017520"/>
            <a:ext cx="681228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3063239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BF24"/>
                </a:solidFill>
                <a:latin typeface="Cambria"/>
              </a:rPr>
              <a:t>15.00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584448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Centro de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Gravedad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final</a:t>
            </a:r>
            <a:r>
              <a:rPr lang="es-BO"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(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límite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superior AirbusA330)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4206240"/>
            <a:ext cx="681228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4251959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BF24"/>
                </a:solidFill>
                <a:latin typeface="Cambria"/>
              </a:rPr>
              <a:t>12 /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773168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Cajas admitidas vs inventario total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5440680"/>
            <a:ext cx="681228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5465502"/>
            <a:ext cx="6812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CBD5E1"/>
                </a:solidFill>
                <a:latin typeface="Calibri"/>
              </a:rPr>
              <a:t>La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caja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con mayor valor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económico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fue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excluida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porque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su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ancho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físico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(4.0 m)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supera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la apertura del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compartimiento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(3.5 m). El solver lo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detectó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mediante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la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restricción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de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contención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geométrica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— sin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necesitar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BD5E1"/>
                </a:solidFill>
                <a:latin typeface="Calibri"/>
              </a:rPr>
              <a:t>intervención</a:t>
            </a:r>
            <a:r>
              <a:rPr sz="1600" b="0" i="1" dirty="0">
                <a:solidFill>
                  <a:srgbClr val="CBD5E1"/>
                </a:solidFill>
                <a:latin typeface="Calibri"/>
              </a:rPr>
              <a:t> humana.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Caso de Estudio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38BDF8"/>
                </a:solidFill>
                <a:latin typeface="Calibri"/>
              </a:rPr>
              <a:t>Estrés de Balance Estático — Boeing 747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Configuración del Escenario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502920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Boeing 747  |  CG_min = 10.0  |  CG_max = 18.0
Cajas críticas introducidas:
  C6: 800 kg  (Ycomp_Frontal = 4.0)
  C8: 400 kg  (Ycomp_Frontal = 4.0)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59" y="3749039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37033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81304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  <a:latin typeface="Calibri"/>
              </a:rPr>
              <a:t>Heurística First-Fit (sin MILP):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87171"/>
                </a:solidFill>
                <a:latin typeface="Calibri"/>
              </a:rPr>
              <a:t>Habría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llenado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compartimiento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Frontal (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Ycomp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= 4.0) con C6 y C8,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generando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Y_abs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promedio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de ~4.3 →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muy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debajo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CG_min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= 10.0.
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Resultado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avión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peligrosamente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pesado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F87171"/>
                </a:solidFill>
                <a:latin typeface="Calibri"/>
              </a:rPr>
              <a:t>nariz</a:t>
            </a:r>
            <a:r>
              <a:rPr sz="1600" b="0" i="0" dirty="0">
                <a:solidFill>
                  <a:srgbClr val="F87171"/>
                </a:solidFill>
                <a:latin typeface="Calibri"/>
              </a:rPr>
              <a:t>. 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623560" cy="480060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188720"/>
            <a:ext cx="5623560" cy="480060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29844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Solución MILP: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19072"/>
            <a:ext cx="5257800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El modelo distribuyó estratégicamente las cargas hacia el compartimiento Trasero (Ycomp = 14.0), compensando el brazo de palanca.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Momento Estático Resultante: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182112"/>
            <a:ext cx="51206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182112"/>
            <a:ext cx="338328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2186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CG final: 14.2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Nariz (10.0)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Cola (18.0)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77639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✓  CG = 14.2 está dentro del rango [10.0 — 18.0]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434840"/>
            <a:ext cx="5257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El solver reposicionó las cargas pesadas al compartimiento trasero para elevar el brazo de palanca promedio, manteniendo la aeronave en equilibrio seguro y operable.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406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✈ Aeronave lista para despegue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08076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Este caso demuestra que la restricción de CG no es solo un 'chequeo de validación': es un motor activo de reposicionamiento de carga que ninguna heurística tradicional puede garantizar.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Caso de Estudio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>
                <a:solidFill>
                  <a:srgbClr val="38BDF8"/>
                </a:solidFill>
                <a:latin typeface="Calibri"/>
              </a:rPr>
              <a:t>Alta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Densidad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de Valor — 3D BPP + Knapsack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Inventario del Escenario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603504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Caja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Dimensiones (m)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187451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Valor ($)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87451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Densidad val/vol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87451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Decisión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240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3.0 × 2.0 ×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$150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~6.25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❌ Excluida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157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0.5 × 0.5 × 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2715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$1,200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9" y="2715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~19,200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79" y="2715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 Cargada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912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0.6 × 0.6 ×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39" y="3191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$2,000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3191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~22,222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79" y="3191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✓ Cargada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93008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BD5E1"/>
                </a:solidFill>
                <a:latin typeface="Calibri"/>
              </a:rPr>
              <a:t>Densidad = valor / volumen. El solver optimizó la densidad de carga, priorizando cajas pequeñas de alto valor sobre cajas voluminosas baratas.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519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Efecto de la gravedad artificial: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590288"/>
            <a:ext cx="603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C3 y C11 fueron ancladas algorítmicamente en las esquinas inferiores (x=0, y=0, z=0), liberando volumen útil para el resto del inventario.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59" y="123444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949440" y="118872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1298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Comportamiento de Compactación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828800"/>
            <a:ext cx="438912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78040" y="3794760"/>
            <a:ext cx="50292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78040" y="38221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54112" y="3703320"/>
            <a:ext cx="594360" cy="530352"/>
          </a:xfrm>
          <a:prstGeom prst="rect">
            <a:avLst/>
          </a:prstGeom>
          <a:solidFill>
            <a:srgbClr val="008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54112" y="3749039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3200400"/>
            <a:ext cx="1645920" cy="1097280"/>
          </a:xfrm>
          <a:prstGeom prst="rect">
            <a:avLst/>
          </a:prstGeom>
          <a:solidFill>
            <a:srgbClr val="3A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0" y="3310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C4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6393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Vol grande
bajo valor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5204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7171"/>
                </a:solidFill>
                <a:latin typeface="Calibri"/>
              </a:rPr>
              <a:t>→  excluida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3159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BF24"/>
                </a:solidFill>
                <a:latin typeface="Calibri"/>
              </a:rPr>
              <a:t>↙ Ancladas en esquina inferior
   por gravedad artificial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59" y="5669280"/>
            <a:ext cx="11430000" cy="82296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20040" y="5623560"/>
            <a:ext cx="11430000" cy="82296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Insight clave: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715000"/>
            <a:ext cx="9509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El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modelo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combina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la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lógica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del Knapsack (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selección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densidad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de valor) con la del 3D BPP (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posición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compacta),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resultando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solución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ninguno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los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dos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enfoques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separado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podría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alcanzar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Exploits Matemáticos Mitigados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Comportamientos indeseados del solver detectados y corregidos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234440"/>
            <a:ext cx="5486400" cy="44348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486400" cy="44348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00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Bug 1  —  Error de Tolerancia de Variables Continuas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Descripción del problema: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120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Con M = 100,000, CPLEX explotaba la tolerancia numérica fraccional del solver permitiendo un traslape infinitesimal (ε ≈ 0.0001 m) entre cajas. En la práctica, esto corrompía silenciosamente la geometría 3D.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Diagnóstico: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M demasiado grande → las restricciones Big-M se vuelven numéricamente 'flojas'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Corrección aplicada: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3067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4D399"/>
                </a:solidFill>
                <a:latin typeface="Courier New"/>
              </a:rPr>
              <a:t>M = 100  →  M =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1235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94A3B8"/>
                </a:solidFill>
                <a:latin typeface="Calibri"/>
              </a:rPr>
              <a:t>Valor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calibrado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 al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rango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 real de las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dimensiones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inventario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restaurando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 la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impenetrabilidad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geométrica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234440"/>
            <a:ext cx="5486400" cy="443484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486400" cy="4434840"/>
          </a:xfrm>
          <a:prstGeom prst="roundRect">
            <a:avLst>
              <a:gd name="adj" fmla="val 6000"/>
            </a:avLst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5486400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492240" y="124358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Bug 2  —  Contrapeso Fantasma (Ghost Weight)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Descripción del problema: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5120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Las cajas NO asignadas a ningún compartimiento (cajas en tierra) mantenían sus variables Y_abs &gt; 0, contribuyendo ilegalmente al cálculo del momento de equilibrio. El CG calculado era incorrecto.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9067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Diagnóstico: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Ausencia de restricción que forzara Y_abs = 0 cuando V_ij = 0 ∀j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4048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Corrección aplicada: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34D399"/>
                </a:solidFill>
                <a:latin typeface="Courier New"/>
              </a:rPr>
              <a:t>Y_abs_i ≤ M · Σ_j V_ij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1235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Restricción explícita: si una caja no está en ningún compartimiento, su brazo de palanca se fuerza a cero.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200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dirty="0" err="1">
                <a:solidFill>
                  <a:srgbClr val="38BDF8"/>
                </a:solidFill>
                <a:latin typeface="Calibri"/>
              </a:rPr>
              <a:t>Optimización</a:t>
            </a:r>
            <a:r>
              <a:rPr b="0" i="1" dirty="0">
                <a:solidFill>
                  <a:srgbClr val="38BDF8"/>
                </a:solidFill>
                <a:latin typeface="Calibri"/>
              </a:rPr>
              <a:t> Tridimensional de Carga </a:t>
            </a:r>
            <a:r>
              <a:rPr b="0" i="1" dirty="0" err="1">
                <a:solidFill>
                  <a:srgbClr val="38BDF8"/>
                </a:solidFill>
                <a:latin typeface="Calibri"/>
              </a:rPr>
              <a:t>Aeroportuaria</a:t>
            </a:r>
            <a:endParaRPr b="0" i="1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59" y="128016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19456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201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34D399"/>
                </a:solidFill>
                <a:latin typeface="Calibri"/>
              </a:rPr>
              <a:t>Exactitud</a:t>
            </a:r>
            <a:r>
              <a:rPr b="1" i="0" dirty="0">
                <a:solidFill>
                  <a:srgbClr val="34D399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34D399"/>
                </a:solidFill>
                <a:latin typeface="Calibri"/>
              </a:rPr>
              <a:t>garantizada</a:t>
            </a:r>
            <a:endParaRPr b="1" i="0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" y="2292384"/>
            <a:ext cx="20116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El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enfoque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MILP con CPLEX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provee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soluciones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óptimas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globales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los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algoritmos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heurísticos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(First-Fit,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genéticos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) no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pueden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asegurar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especialmente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bajo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restricciones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físicas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acopladas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8016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97480" y="123444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1234440"/>
            <a:ext cx="219456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600200"/>
            <a:ext cx="201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38BDF8"/>
                </a:solidFill>
                <a:latin typeface="Calibri"/>
              </a:rPr>
              <a:t>Seguridad de vuelo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292384"/>
            <a:ext cx="20116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La restricción de Centro de Gravedad no es un chequeo posterior — es una variable activa de reposicionamiento que garantiza que cada solución cumple los estándares aeronáuticos.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28016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4920" y="123444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74920" y="1234440"/>
            <a:ext cx="219456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600200"/>
            <a:ext cx="201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BBF24"/>
                </a:solidFill>
                <a:latin typeface="Calibri"/>
              </a:rPr>
              <a:t>Robustez ante exploits del 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292384"/>
            <a:ext cx="20116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BD5E1"/>
                </a:solidFill>
                <a:latin typeface="Calibri"/>
              </a:rPr>
              <a:t>La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calibración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de M=50 y la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restricción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anti-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contrapeso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fantasma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demuestran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modelo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MILP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robusto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requiere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iteración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cuidadosa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con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BD5E1"/>
                </a:solidFill>
                <a:latin typeface="Calibri"/>
              </a:rPr>
              <a:t>comportamiento</a:t>
            </a:r>
            <a:r>
              <a:rPr sz="1600" b="0" i="0" dirty="0">
                <a:solidFill>
                  <a:srgbClr val="CBD5E1"/>
                </a:solidFill>
                <a:latin typeface="Calibri"/>
              </a:rPr>
              <a:t> real del solver.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128016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52360" y="123444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1234440"/>
            <a:ext cx="219456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600200"/>
            <a:ext cx="201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7C3AED"/>
                </a:solidFill>
                <a:latin typeface="Calibri"/>
              </a:rPr>
              <a:t>Arquitectura escalable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292384"/>
            <a:ext cx="20116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El desacoplamiento Backend/Frontend permite cambiar de solver, aeronave o inventario sin reescribir la interfaz. El contrato JSON asegura independencia de capas.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128016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3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29800" y="1234440"/>
            <a:ext cx="2194560" cy="4297680"/>
          </a:xfrm>
          <a:prstGeom prst="roundRect">
            <a:avLst>
              <a:gd name="adj" fmla="val 6000"/>
            </a:avLst>
          </a:prstGeom>
          <a:solidFill>
            <a:srgbClr val="0D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9800" y="1234440"/>
            <a:ext cx="2194560" cy="292608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29800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1600200"/>
            <a:ext cx="201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D6EFD"/>
                </a:solidFill>
                <a:latin typeface="Calibri"/>
              </a:rPr>
              <a:t>Visualización como validación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292384"/>
            <a:ext cx="20116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El renderizado 3D no es solo un artefacto visual: permite verificar intuitivamente la no-colisión espacial, el balance y la distribución, cerrando el ciclo de validación del modelo.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692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94A3B8"/>
                </a:solidFill>
                <a:latin typeface="Calibri"/>
              </a:rPr>
              <a:t>La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plataforma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desarrollada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es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funcional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,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escalable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para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distintos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tipos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aeronaves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y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demuestra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que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la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Investigación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Operaciones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aplicada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al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dominio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aeronáutico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produce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herramientas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decisión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 robustas y </a:t>
            </a:r>
            <a:r>
              <a:rPr sz="1400" b="0" i="1" dirty="0" err="1">
                <a:solidFill>
                  <a:srgbClr val="94A3B8"/>
                </a:solidFill>
                <a:latin typeface="Calibri"/>
              </a:rPr>
              <a:t>seguras</a:t>
            </a:r>
            <a:r>
              <a:rPr sz="1400" b="0" i="1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70"/>
                </a:solidFill>
                <a:latin typeface="Calibri"/>
              </a:rPr>
              <a:t>UCB San Pablo — Materia: Optimización — junio 2026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4FC717-CDB3-266F-04C2-324797331F37}"/>
              </a:ext>
            </a:extLst>
          </p:cNvPr>
          <p:cNvSpPr txBox="1"/>
          <p:nvPr/>
        </p:nvSpPr>
        <p:spPr>
          <a:xfrm>
            <a:off x="12264390" y="1259175"/>
            <a:ext cx="77038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sz="13800" b="1" i="0" dirty="0">
                <a:solidFill>
                  <a:srgbClr val="FFFFFF"/>
                </a:solidFill>
                <a:latin typeface="Cambria"/>
              </a:rPr>
              <a:t>MUCHAS</a:t>
            </a:r>
            <a:endParaRPr sz="138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E1830A-1AA2-7894-BF34-7F10D6C98854}"/>
              </a:ext>
            </a:extLst>
          </p:cNvPr>
          <p:cNvSpPr txBox="1"/>
          <p:nvPr/>
        </p:nvSpPr>
        <p:spPr>
          <a:xfrm>
            <a:off x="-7299960" y="3382834"/>
            <a:ext cx="77038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sz="13800" b="1" i="0" dirty="0">
                <a:solidFill>
                  <a:srgbClr val="FFFFFF"/>
                </a:solidFill>
                <a:latin typeface="Cambria"/>
              </a:rPr>
              <a:t>GRACIAS</a:t>
            </a:r>
            <a:endParaRPr sz="13800" b="1" i="0" dirty="0">
              <a:solidFill>
                <a:srgbClr val="FFFFFF"/>
              </a:solidFill>
              <a:latin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22AE8-8240-F3D6-6F00-DB7F0862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C3470461-F8DA-47FD-36B6-495EB1942025}"/>
              </a:ext>
            </a:extLst>
          </p:cNvPr>
          <p:cNvSpPr txBox="1"/>
          <p:nvPr/>
        </p:nvSpPr>
        <p:spPr>
          <a:xfrm>
            <a:off x="2244090" y="1259175"/>
            <a:ext cx="77038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sz="13800" b="1" i="0" dirty="0">
                <a:solidFill>
                  <a:srgbClr val="FFFFFF"/>
                </a:solidFill>
                <a:latin typeface="Cambria"/>
              </a:rPr>
              <a:t>MUCHAS</a:t>
            </a:r>
            <a:endParaRPr sz="138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43AAF-009D-F6E8-FC7B-2EB0E6FD12AE}"/>
              </a:ext>
            </a:extLst>
          </p:cNvPr>
          <p:cNvSpPr txBox="1"/>
          <p:nvPr/>
        </p:nvSpPr>
        <p:spPr>
          <a:xfrm>
            <a:off x="2244090" y="3382834"/>
            <a:ext cx="77038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sz="13800" b="1" i="0" dirty="0">
                <a:solidFill>
                  <a:srgbClr val="FFFFFF"/>
                </a:solidFill>
                <a:latin typeface="Cambria"/>
              </a:rPr>
              <a:t>GRACIAS</a:t>
            </a:r>
            <a:endParaRPr sz="13800" b="1" i="0" dirty="0">
              <a:solidFill>
                <a:srgbClr val="FFFFFF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04775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2278</Words>
  <Application>Microsoft Office PowerPoint</Application>
  <PresentationFormat>Widescreen</PresentationFormat>
  <Paragraphs>274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Durán Cuenca</cp:lastModifiedBy>
  <cp:revision>4</cp:revision>
  <dcterms:created xsi:type="dcterms:W3CDTF">2013-01-27T09:14:16Z</dcterms:created>
  <dcterms:modified xsi:type="dcterms:W3CDTF">2026-06-11T17:29:54Z</dcterms:modified>
  <cp:category/>
</cp:coreProperties>
</file>